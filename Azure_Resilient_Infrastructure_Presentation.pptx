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0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Azure Multi-Region Resilient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POC Application - Technical Architecture Overview</a:t>
            </a:r>
            <a:br/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Executive Summary &amp; Business Requirements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Solution Architecture Overview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Multi-Region Design &amp; Components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Disaster Recovery Strategy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Automated DR Failover (Alert-Triggered)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Manual DR Drill Process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Recovery Objectives &amp; SLAs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578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Requirements &amp; Resiliency Targets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RTO (Recovery Time)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≤ 1 hour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SQL MI Auto-Failover, Front Door Health Probes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RPO (Data Loss)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≤ 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Synchronous SQL Replication, Geo-Redundant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Availability SLA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Multi-region Active-Active with Zone Redundancy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DR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Automated + Manual DR Drill Runbooks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Zero Trust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Private Endpoints, Managed Identities, No Public Access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Multi-Region Active-Active Architecture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Primary Region: East US 2 | Secondary Region: Central US (Azure Paired Regions)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Zone-Redundant Deployment across 3 Availability Zones per region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Global Traffic Management with Azure Front Door Premium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Weighted load balancing (50/50) with automatic failover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WAF policies for DDoS protection and security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Data Replication across all stateful services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SQL MI Failover Groups with synchronous replication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Redis Premium with Geo-Replication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Storage Accounts with RA-GZRS (Read-Access Geo-Zone-Redundant)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Fully Private Architecture with Private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5706578"/>
          </a:xfrm>
          <a:prstGeom prst="rect">
            <a:avLst/>
          </a:prstGeom>
          <a:solidFill>
            <a:srgbClr val="E6F2FA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F472EA-6906-246E-FEE7-85A2DE318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14" y="1107615"/>
            <a:ext cx="9322279" cy="5636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578"/>
                </a:solidFill>
              </a:defRPr>
            </a:pPr>
            <a:r>
              <a:t>Architecture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Services &amp;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Primary Region (EUS2)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Secondary Region (CUS)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Replication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App Service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P1v3 x 3 instances (Zone Redundant)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P1v3 x 3 instances (Zone Redundant)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N/A (Stateless)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Function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Elastic Premium EP2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Elastic Premium EP2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N/A (Stateless)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SQL MI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Business Critical (8 vCores)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Business Critical (8 vCores)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Group (Sync)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Redis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Premium P1 (6GB)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Premium P1 (6GB)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Geo-Replication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RA-GZRS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RA-GZRS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Cross-Region Replication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Key 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Premium (RBAC)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Premium (RBAC)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Manual (DR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Front Door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Premium + WAF (Global)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Global Service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Virtual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Primary VNet: 10.1.0.0/16 (East US 2)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Secondary VNet: 10.2.0.0/16 (Central US)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Global VNet Peering between regions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Dedicated subnets per service tier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Network Security Groups (NSGs)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Private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Private Endpoints for all PaaS services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Private DNS Zones for name resolution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public IPs on backend services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Front Door as single ingress point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VNet Integration for App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578"/>
                </a:solidFill>
              </a:defRPr>
            </a:pPr>
            <a:r>
              <a:t>Disaster Recovery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Two-Pronged DR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🤖 Automated Failover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Real-time alert-triggered response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Azure Monitor alerts detect outages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Webhook triggers Automation Runbook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Automatic SQL MI failover group switch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Automatic Redis geo-rep promotion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human intervention required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RTO: Minutes (for automated components)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👨‍💻 Manual DR Drill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Scheduled quarterly DR testing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PowerShell scripts for controlled execution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Step-by-step validation checkpoints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Detailed logging and reporting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Failback procedures included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Compliance documentation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Training for operations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Automated DR Failover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1️⃣  Alert Fires — Azure Monitor detects unhealthy metrics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SQL MI CPU = 0%, App Service Health &lt; 90%, Redis Server Load &gt; 99%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2️⃣  Action Group Executes — Triggers configured actions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Email notifications sent to operations team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Webhook calls Azure Automation runbook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3️⃣  Automation Runbook Executes — PowerShell script runs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Authenticates via Managed Identity (no credentials)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Parses Common Alert Schema webhook payload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4️⃣  Failover Operations — Components switch to secondary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SQL MI: Switch-AzSqlDatabaseInstanceFailoverGroup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Redis: Remove-AzRedisCacheLink (promotes secondary)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5️⃣  Front Door — Automatic via Health Probes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No action needed — health probes detect and route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Automated DR Failover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solidFill>
            <a:srgbClr val="E6F2FA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30BE6-B0F7-0E29-91CB-3169A9AC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10" y="1457103"/>
            <a:ext cx="11130204" cy="46669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Manual DR Drill Process (5-Step Runbook)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1: Pre-Drill Validation (01-PreDrillValidation.ps1)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Verify all resources are healthy before starting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Check replication status, connection strings, DNS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2: Initiate Failover (02-InitiateFailover.ps1)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Execute SQL MI failover group switch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Remove Redis geo-replication link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3: Validate Failover (03-ValidateFailover.ps1)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Test application connectivity to secondary region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Verify database read/write operations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4: Initiate Failback (04-InitiateFailback.ps1)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Return to primary region after testing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Re-establish Redis geo-replication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Step 5: Post-Drill Report (05-PostDrillReport.ps1)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Generate compliance report with timestamps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Document any issues for remediation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Automated vs Manual DR: When to Use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Production Outage (Real)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✅ Primary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❌ Not recommended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Scheduled DR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❌ Not 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✅ Primary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Compliance DR Drill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❌ Insufficient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✅ Required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Training /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❌ Too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✅ Recommended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Unattended Response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✅ Designed for this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❌ Requires operator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RTO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&lt; 1 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DR Alert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4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SQL MI Availability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avg_cpu_percent = 0%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 (Sev0)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SQL MI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ResourceHealth = 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App Service Health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HealthCheckStatus &lt; 90%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App Service 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Http5xx &gt; 100 in 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Redis Server Load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serverLoad &gt; 99%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Redis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connectedclients &lt;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Region Service Health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Azure Incident in EUS2/CUS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Failover Runbook</a:t>
                      </a:r>
                    </a:p>
                  </a:txBody>
                  <a:tcPr>
                    <a:solidFill>
                      <a:srgbClr val="E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578"/>
                </a:solidFill>
              </a:defRPr>
            </a:pPr>
            <a:r>
              <a:t>Infrastructure as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Terraform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Modular Architecture — Reusable modules per service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12 modules: networking, app-service, </a:t>
            </a:r>
            <a:r>
              <a:rPr sz="1600" dirty="0" err="1"/>
              <a:t>sql</a:t>
            </a:r>
            <a:r>
              <a:rPr sz="1600" dirty="0"/>
              <a:t>-mi, </a:t>
            </a:r>
            <a:r>
              <a:rPr sz="1600" dirty="0" err="1"/>
              <a:t>redis</a:t>
            </a:r>
            <a:r>
              <a:rPr sz="1600" dirty="0"/>
              <a:t>, automation, etc.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Environment Separation — Prod configuration in environments/prod/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Variables, locals, and </a:t>
            </a:r>
            <a:r>
              <a:rPr sz="1600" dirty="0" err="1"/>
              <a:t>tfvars</a:t>
            </a:r>
            <a:r>
              <a:rPr sz="1600" dirty="0"/>
              <a:t> for configuration management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State Management — Terraform state with Azure Backend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Supports team collaboration and state locking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Key Modules: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modules/automation/ — Azure Automation Account, Runbook, Webhook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modules/monitoring/ — Log Analytics, App Insights, DR Alerts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modules/</a:t>
            </a:r>
            <a:r>
              <a:rPr sz="1600" dirty="0" err="1"/>
              <a:t>sql</a:t>
            </a:r>
            <a:r>
              <a:rPr sz="1600" dirty="0"/>
              <a:t>-mi/ — SQL MI with Failover Groups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modules/</a:t>
            </a:r>
            <a:r>
              <a:rPr sz="1600" dirty="0" err="1"/>
              <a:t>redis</a:t>
            </a:r>
            <a:r>
              <a:rPr sz="1600" dirty="0"/>
              <a:t>/ — Redis Premium with Geo-Replication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modules/front-door/ — Azure Front Door Premium with WAF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GitHub Repository: DeepMalh44/ResiliencyPOC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4578"/>
                </a:solidFill>
              </a:defRPr>
            </a:pPr>
            <a:r>
              <a:t>Summary &amp; Next Steps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✅ What's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Multi-region Active-Active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Zone-redundant services (3 AZs)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SQL MI Failover Groups (auto-failover)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Redis Geo-Replication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Azure Automation for DR (alert-triggered)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Manual DR Drill runbooks (5 scripts)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Terraform IaC (fully modularized)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Comprehensive monitoring and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4578"/>
                </a:solidFill>
              </a:defRPr>
            </a:pPr>
            <a:r>
              <a:t>🔜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8288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Deploy SQL MI (pending vCore quota approval)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Configure Front Door health probes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Test automated failover end-to-end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Schedule first quarterly DR drill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Document runbooks for operations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Set up Azure DevOps CI/CD pipeline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Security review and penetration testing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Cost optimization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1121</Words>
  <Application>Microsoft Office PowerPoint</Application>
  <PresentationFormat>Custom</PresentationFormat>
  <Paragraphs>230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Ketaanh Shah</cp:lastModifiedBy>
  <cp:revision>2</cp:revision>
  <dcterms:created xsi:type="dcterms:W3CDTF">2013-01-27T09:14:16Z</dcterms:created>
  <dcterms:modified xsi:type="dcterms:W3CDTF">2026-02-03T14:50:42Z</dcterms:modified>
  <cp:category/>
</cp:coreProperties>
</file>